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8288000" cy="10287000"/>
  <p:notesSz cx="6858000" cy="9144000"/>
  <p:embeddedFontLst>
    <p:embeddedFont>
      <p:font typeface="EB Garamond" panose="00000500000000000000" pitchFamily="2" charset="0"/>
      <p:regular r:id="rId11"/>
    </p:embeddedFont>
    <p:embeddedFont>
      <p:font typeface="EB Garamond Semi-Bold" panose="020B0604020202020204" charset="0"/>
      <p:regular r:id="rId12"/>
    </p:embeddedFont>
    <p:embeddedFont>
      <p:font typeface="Times New Roman Bold" panose="02020803070505020304" pitchFamily="18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300" y="-1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7.2013</a:t>
            </a:r>
          </a:p>
          <a:p>
            <a:endParaRPr lang="en-US"/>
          </a:p>
          <a:p>
            <a:r>
              <a:rPr lang="en-US"/>
              <a:t> 7.2013</a:t>
            </a:r>
          </a:p>
          <a:p>
            <a:endParaRPr lang="en-US"/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7.2013</a:t>
            </a:r>
          </a:p>
          <a:p>
            <a:endParaRPr lang="en-US"/>
          </a:p>
          <a:p>
            <a:r>
              <a:rPr lang="en-US"/>
              <a:t> 7.2013</a:t>
            </a:r>
          </a:p>
          <a:p>
            <a:endParaRPr lang="en-US"/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7.2013</a:t>
            </a:r>
          </a:p>
          <a:p>
            <a:endParaRPr lang="en-US"/>
          </a:p>
          <a:p>
            <a:r>
              <a:rPr lang="en-US"/>
              <a:t> 7.2013</a:t>
            </a:r>
          </a:p>
          <a:p>
            <a:endParaRPr lang="en-US"/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E9B28-568A-0CF7-9945-86AD2B6F8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D3FF89-4EC5-B6B5-E96E-CD4EBA6A46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CC4CA-D118-8509-BB8A-710BBE7E86A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555C6AD-F16A-1762-2F9A-BF415C35CC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8B566B2-2148-F02E-45D1-9F74AA407E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7.2013</a:t>
            </a:r>
          </a:p>
          <a:p>
            <a:endParaRPr lang="en-US"/>
          </a:p>
          <a:p>
            <a:r>
              <a:rPr lang="en-US"/>
              <a:t> 7.2013</a:t>
            </a:r>
          </a:p>
          <a:p>
            <a:endParaRPr lang="en-US"/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97C95-EB2E-10B4-2120-0C3CECEAA06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85F51-C667-1538-1DCE-201612B32A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13636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4D69C-4123-B9EC-62A9-7E02D967C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23C75B-FD15-9CB0-C286-00589CDAA1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E923A2-EC04-2734-B91E-4FC43588C10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A8D2A8C-52B3-A362-4935-6DC538E9A3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49F8801-76D4-7F0E-D0AC-B328F05AB5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7.2013</a:t>
            </a:r>
          </a:p>
          <a:p>
            <a:endParaRPr lang="en-US"/>
          </a:p>
          <a:p>
            <a:r>
              <a:rPr lang="en-US"/>
              <a:t> 7.2013</a:t>
            </a:r>
          </a:p>
          <a:p>
            <a:endParaRPr lang="en-US"/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A74B9-C7D4-60B5-0994-7BB624E96E2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47335-2E68-9820-0844-467C6BE4CD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38770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EAFAD-CDF5-BFA7-E744-3CD6A0BC3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A38DE10-33EF-75E5-CD41-37F9B64329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D0E8C9-DCC7-76E8-7B67-7FDAAD002A3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0DCFC49-AB44-9045-80AE-3BFF436C24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505B502-DA31-129C-DF2B-16F20B2EDB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7.2013</a:t>
            </a:r>
          </a:p>
          <a:p>
            <a:endParaRPr lang="en-US"/>
          </a:p>
          <a:p>
            <a:r>
              <a:rPr lang="en-US"/>
              <a:t> 7.2013</a:t>
            </a:r>
          </a:p>
          <a:p>
            <a:endParaRPr lang="en-US"/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4D028D-2393-88FF-F705-4F8C89AD2A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C5FE8-ADA2-4561-B467-6043EEBEDE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84654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B1E86-449E-A7FF-C6C4-CBE66204D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9379AE0-DE67-E1C7-5714-9FF352FC07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E71659-4ADD-EA75-DB67-0BBE963D4AA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FCFF7D5-D156-6C01-42D0-7536FA776E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92F155A-0252-25F6-B8F8-B17C33F15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7.2013</a:t>
            </a:r>
          </a:p>
          <a:p>
            <a:endParaRPr lang="en-US"/>
          </a:p>
          <a:p>
            <a:r>
              <a:rPr lang="en-US"/>
              <a:t> 7.2013</a:t>
            </a:r>
          </a:p>
          <a:p>
            <a:endParaRPr lang="en-US"/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E54B4-1068-E7C4-D11B-F167B1AD32E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04211-8D2A-D31D-0F7C-348AE0661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88357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proceedings.neurips.cc/paper_files/paper/2025/file/b1041e52d3be19f0a9bc491657488e4a-Paper-Datasets_and_Benchmarks_Track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rxiv.org/pdf/2505.00212" TargetMode="External"/><Relationship Id="rId5" Type="http://schemas.openxmlformats.org/officeDocument/2006/relationships/hyperlink" Target="https://arxiv.org/abs/2508.00500" TargetMode="Externa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426177"/>
            <a:ext cx="18288000" cy="2610422"/>
            <a:chOff x="0" y="0"/>
            <a:chExt cx="24384000" cy="34805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3480562"/>
            </a:xfrm>
            <a:custGeom>
              <a:avLst/>
              <a:gdLst/>
              <a:ahLst/>
              <a:cxnLst/>
              <a:rect l="l" t="t" r="r" b="b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864961" y="8984828"/>
            <a:ext cx="4061936" cy="910304"/>
            <a:chOff x="0" y="0"/>
            <a:chExt cx="5415915" cy="12137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15915" cy="1213739"/>
            </a:xfrm>
            <a:custGeom>
              <a:avLst/>
              <a:gdLst/>
              <a:ahLst/>
              <a:cxnLst/>
              <a:rect l="l" t="t" r="r" b="b"/>
              <a:pathLst>
                <a:path w="5415915" h="1213739">
                  <a:moveTo>
                    <a:pt x="0" y="0"/>
                  </a:moveTo>
                  <a:lnTo>
                    <a:pt x="5415915" y="0"/>
                  </a:lnTo>
                  <a:lnTo>
                    <a:pt x="5415915" y="1213739"/>
                  </a:lnTo>
                  <a:lnTo>
                    <a:pt x="0" y="1213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-9525"/>
            <a:ext cx="1837563" cy="2203323"/>
            <a:chOff x="0" y="0"/>
            <a:chExt cx="2450084" cy="29377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50084" cy="2937764"/>
            </a:xfrm>
            <a:custGeom>
              <a:avLst/>
              <a:gdLst/>
              <a:ahLst/>
              <a:cxnLst/>
              <a:rect l="l" t="t" r="r" b="b"/>
              <a:pathLst>
                <a:path w="2450084" h="2937764">
                  <a:moveTo>
                    <a:pt x="0" y="0"/>
                  </a:moveTo>
                  <a:lnTo>
                    <a:pt x="2450084" y="0"/>
                  </a:lnTo>
                  <a:lnTo>
                    <a:pt x="2450084" y="2937764"/>
                  </a:lnTo>
                  <a:lnTo>
                    <a:pt x="0" y="2937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3" r="-102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326654" y="5757234"/>
            <a:ext cx="11634683" cy="1896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0"/>
              </a:lnSpc>
            </a:pPr>
            <a:r>
              <a:rPr lang="en-US" sz="4800" spc="-244" dirty="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CH.SC.U4AIE24041 – Lakshmi Kanthan S</a:t>
            </a:r>
          </a:p>
          <a:p>
            <a:pPr algn="ctr">
              <a:lnSpc>
                <a:spcPts val="4886"/>
              </a:lnSpc>
            </a:pPr>
            <a:r>
              <a:rPr lang="en-US" sz="4800" spc="-240" dirty="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CH.SC.U4AIE24077 – V S Naren Kumar </a:t>
            </a:r>
          </a:p>
          <a:p>
            <a:pPr algn="ctr">
              <a:lnSpc>
                <a:spcPts val="4886"/>
              </a:lnSpc>
            </a:pPr>
            <a:r>
              <a:rPr lang="en-US" sz="4800" spc="-240" dirty="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CH.SC.U4AIE24055 – Prajesh K</a:t>
            </a:r>
            <a:endParaRPr lang="en-US" sz="4800" spc="-244" dirty="0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139058" y="3578285"/>
            <a:ext cx="200987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4000" b="1" spc="-9" dirty="0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Rocks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18671" y="396164"/>
            <a:ext cx="16145504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4800" b="1" dirty="0" err="1"/>
              <a:t>FailNet</a:t>
            </a:r>
            <a:r>
              <a:rPr lang="en-US" sz="4800" b="1" dirty="0"/>
              <a:t>: Bayesian Failure Prediction &amp; Intervention for Multi-Agent LLMs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426177"/>
            <a:ext cx="18288000" cy="2610422"/>
            <a:chOff x="0" y="0"/>
            <a:chExt cx="24384000" cy="34805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3480562"/>
            </a:xfrm>
            <a:custGeom>
              <a:avLst/>
              <a:gdLst/>
              <a:ahLst/>
              <a:cxnLst/>
              <a:rect l="l" t="t" r="r" b="b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864961" y="8984828"/>
            <a:ext cx="4061936" cy="910304"/>
            <a:chOff x="0" y="0"/>
            <a:chExt cx="5415915" cy="12137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15915" cy="1213739"/>
            </a:xfrm>
            <a:custGeom>
              <a:avLst/>
              <a:gdLst/>
              <a:ahLst/>
              <a:cxnLst/>
              <a:rect l="l" t="t" r="r" b="b"/>
              <a:pathLst>
                <a:path w="5415915" h="1213739">
                  <a:moveTo>
                    <a:pt x="0" y="0"/>
                  </a:moveTo>
                  <a:lnTo>
                    <a:pt x="5415915" y="0"/>
                  </a:lnTo>
                  <a:lnTo>
                    <a:pt x="5415915" y="1213739"/>
                  </a:lnTo>
                  <a:lnTo>
                    <a:pt x="0" y="1213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-9525"/>
            <a:ext cx="1837563" cy="2203323"/>
            <a:chOff x="0" y="0"/>
            <a:chExt cx="2450084" cy="29377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50084" cy="2937764"/>
            </a:xfrm>
            <a:custGeom>
              <a:avLst/>
              <a:gdLst/>
              <a:ahLst/>
              <a:cxnLst/>
              <a:rect l="l" t="t" r="r" b="b"/>
              <a:pathLst>
                <a:path w="2450084" h="2937764">
                  <a:moveTo>
                    <a:pt x="0" y="0"/>
                  </a:moveTo>
                  <a:lnTo>
                    <a:pt x="2450084" y="0"/>
                  </a:lnTo>
                  <a:lnTo>
                    <a:pt x="2450084" y="2937764"/>
                  </a:lnTo>
                  <a:lnTo>
                    <a:pt x="0" y="2937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3" r="-102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24817" y="2282697"/>
            <a:ext cx="17734583" cy="6647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LLM systems execute complex, autonomous workflows where failures are highly unpredictable.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trajectories contain cascading errors, where a single flawed plan can trigger downstream hallucinations.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observability tools act as reactive black boxes, only logging errors after a catastrophic crash occurs.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prevents actionable root-cause diagnosis, as standard machine learning classifiers cannot explain why a system failed.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Unmonitored agents can silently enter infinite loops, leading to wasted API costs and corrupted system states.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an interpretable Bayesian Network is needed to proactively predict risk, diagnose root causes, and recommend interventions.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37563" y="775144"/>
            <a:ext cx="16145504" cy="710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47"/>
              </a:lnSpc>
            </a:pPr>
            <a:r>
              <a:rPr lang="en-US" sz="5199" b="1" spc="-45">
                <a:solidFill>
                  <a:srgbClr val="000000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426177"/>
            <a:ext cx="18288000" cy="2610422"/>
            <a:chOff x="0" y="0"/>
            <a:chExt cx="24384000" cy="34805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3480562"/>
            </a:xfrm>
            <a:custGeom>
              <a:avLst/>
              <a:gdLst/>
              <a:ahLst/>
              <a:cxnLst/>
              <a:rect l="l" t="t" r="r" b="b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864961" y="8984828"/>
            <a:ext cx="4061936" cy="910304"/>
            <a:chOff x="0" y="0"/>
            <a:chExt cx="5415915" cy="12137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15915" cy="1213739"/>
            </a:xfrm>
            <a:custGeom>
              <a:avLst/>
              <a:gdLst/>
              <a:ahLst/>
              <a:cxnLst/>
              <a:rect l="l" t="t" r="r" b="b"/>
              <a:pathLst>
                <a:path w="5415915" h="1213739">
                  <a:moveTo>
                    <a:pt x="0" y="0"/>
                  </a:moveTo>
                  <a:lnTo>
                    <a:pt x="5415915" y="0"/>
                  </a:lnTo>
                  <a:lnTo>
                    <a:pt x="5415915" y="1213739"/>
                  </a:lnTo>
                  <a:lnTo>
                    <a:pt x="0" y="1213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-9525"/>
            <a:ext cx="1837563" cy="2203323"/>
            <a:chOff x="0" y="0"/>
            <a:chExt cx="2450084" cy="29377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50084" cy="2937764"/>
            </a:xfrm>
            <a:custGeom>
              <a:avLst/>
              <a:gdLst/>
              <a:ahLst/>
              <a:cxnLst/>
              <a:rect l="l" t="t" r="r" b="b"/>
              <a:pathLst>
                <a:path w="2450084" h="2937764">
                  <a:moveTo>
                    <a:pt x="0" y="0"/>
                  </a:moveTo>
                  <a:lnTo>
                    <a:pt x="2450084" y="0"/>
                  </a:lnTo>
                  <a:lnTo>
                    <a:pt x="2450084" y="2937764"/>
                  </a:lnTo>
                  <a:lnTo>
                    <a:pt x="0" y="2937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3" r="-102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278155" y="2506771"/>
            <a:ext cx="17731689" cy="6155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frameworks are rapidly replacing single LLMs, becoming the new standard for complex automation.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these autonomous systems lack robust safety nets and are highly prone to cascading, expensive failures.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observability tools only provide post-crash logs, which are insufficient for systems acting in real-time.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critical research gap in applying interpretable, causal models to AI agent monitoring.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this problem is essential for safely deploying autonomous multi-agent workflows in high-stakes environments.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81394" y="775144"/>
            <a:ext cx="16145504" cy="710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47"/>
              </a:lnSpc>
            </a:pPr>
            <a:r>
              <a:rPr lang="en-US" sz="5199" b="1" spc="-45" dirty="0">
                <a:solidFill>
                  <a:srgbClr val="000000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rPr>
              <a:t>Why Did We Choose This Problem?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D5A6C-21D3-5F0D-D9FE-74777B06C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6D266D6-5B38-88C3-BCDC-3243A0FF064D}"/>
              </a:ext>
            </a:extLst>
          </p:cNvPr>
          <p:cNvGrpSpPr/>
          <p:nvPr/>
        </p:nvGrpSpPr>
        <p:grpSpPr>
          <a:xfrm>
            <a:off x="0" y="-426177"/>
            <a:ext cx="18288000" cy="2610422"/>
            <a:chOff x="0" y="0"/>
            <a:chExt cx="24384000" cy="348056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0E4D19E-FA4D-4E93-5EAA-BB3C2440735F}"/>
                </a:ext>
              </a:extLst>
            </p:cNvPr>
            <p:cNvSpPr/>
            <p:nvPr/>
          </p:nvSpPr>
          <p:spPr>
            <a:xfrm>
              <a:off x="0" y="0"/>
              <a:ext cx="24384000" cy="3480562"/>
            </a:xfrm>
            <a:custGeom>
              <a:avLst/>
              <a:gdLst/>
              <a:ahLst/>
              <a:cxnLst/>
              <a:rect l="l" t="t" r="r" b="b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F21E876-DC52-BD9B-CF8E-3A53E79D3E6A}"/>
              </a:ext>
            </a:extLst>
          </p:cNvPr>
          <p:cNvGrpSpPr/>
          <p:nvPr/>
        </p:nvGrpSpPr>
        <p:grpSpPr>
          <a:xfrm>
            <a:off x="13864961" y="8984828"/>
            <a:ext cx="4061936" cy="910304"/>
            <a:chOff x="0" y="0"/>
            <a:chExt cx="5415915" cy="121373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0FE2061-9BCB-64DB-D57D-2A933491EB02}"/>
                </a:ext>
              </a:extLst>
            </p:cNvPr>
            <p:cNvSpPr/>
            <p:nvPr/>
          </p:nvSpPr>
          <p:spPr>
            <a:xfrm>
              <a:off x="0" y="0"/>
              <a:ext cx="5415915" cy="1213739"/>
            </a:xfrm>
            <a:custGeom>
              <a:avLst/>
              <a:gdLst/>
              <a:ahLst/>
              <a:cxnLst/>
              <a:rect l="l" t="t" r="r" b="b"/>
              <a:pathLst>
                <a:path w="5415915" h="1213739">
                  <a:moveTo>
                    <a:pt x="0" y="0"/>
                  </a:moveTo>
                  <a:lnTo>
                    <a:pt x="5415915" y="0"/>
                  </a:lnTo>
                  <a:lnTo>
                    <a:pt x="5415915" y="1213739"/>
                  </a:lnTo>
                  <a:lnTo>
                    <a:pt x="0" y="1213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4052D36-E3C3-813C-5717-478FED51B383}"/>
              </a:ext>
            </a:extLst>
          </p:cNvPr>
          <p:cNvGrpSpPr/>
          <p:nvPr/>
        </p:nvGrpSpPr>
        <p:grpSpPr>
          <a:xfrm>
            <a:off x="0" y="-9525"/>
            <a:ext cx="1837563" cy="2203323"/>
            <a:chOff x="0" y="0"/>
            <a:chExt cx="2450084" cy="293776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FD25303-DDA3-3204-001D-A6098E2011EC}"/>
                </a:ext>
              </a:extLst>
            </p:cNvPr>
            <p:cNvSpPr/>
            <p:nvPr/>
          </p:nvSpPr>
          <p:spPr>
            <a:xfrm>
              <a:off x="0" y="0"/>
              <a:ext cx="2450084" cy="2937764"/>
            </a:xfrm>
            <a:custGeom>
              <a:avLst/>
              <a:gdLst/>
              <a:ahLst/>
              <a:cxnLst/>
              <a:rect l="l" t="t" r="r" b="b"/>
              <a:pathLst>
                <a:path w="2450084" h="2937764">
                  <a:moveTo>
                    <a:pt x="0" y="0"/>
                  </a:moveTo>
                  <a:lnTo>
                    <a:pt x="2450084" y="0"/>
                  </a:lnTo>
                  <a:lnTo>
                    <a:pt x="2450084" y="2937764"/>
                  </a:lnTo>
                  <a:lnTo>
                    <a:pt x="0" y="2937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3" r="-102"/>
              </a:stretch>
            </a:blipFill>
          </p:spPr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A3923B39-40BE-284D-5411-7C154E9C2FDA}"/>
              </a:ext>
            </a:extLst>
          </p:cNvPr>
          <p:cNvSpPr txBox="1"/>
          <p:nvPr/>
        </p:nvSpPr>
        <p:spPr>
          <a:xfrm>
            <a:off x="278155" y="2506771"/>
            <a:ext cx="17731689" cy="6647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a 24-node Directed Acyclic Graph (DAG) that models the causal dependencies of multi-agent failures.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 agent trajectory data and categorize node features into observable, heuristic, and proxy-labeled tiers.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Bayesian parameter learning with Dirichlet smoothing to robustly estimate conditional probabilities.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exact inference (Variable Elimination) for real-time risk prediction and MAP root-cause diagnosis.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Formulate a decision-theoretic policy to map predicted failure risks to optimal system interventions (e.g., Halt, Retry).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Bayesian Network against discriminative baselines and demonstrate the system via a live monitoring dashboard.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8DC0086-0DFC-BFC5-CC6D-8E18404ACF88}"/>
              </a:ext>
            </a:extLst>
          </p:cNvPr>
          <p:cNvSpPr txBox="1"/>
          <p:nvPr/>
        </p:nvSpPr>
        <p:spPr>
          <a:xfrm>
            <a:off x="1781394" y="775144"/>
            <a:ext cx="16145504" cy="677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latin typeface="EB Garamond Semi-Bold" panose="020B0604020202020204" charset="0"/>
                <a:ea typeface="EB Garamond Semi-Bold" panose="020B0604020202020204" charset="0"/>
                <a:cs typeface="EB Garamond Semi-Bold" panose="020B0604020202020204" charset="0"/>
              </a:rPr>
              <a:t>What We Are Going to Do / Course of Action</a:t>
            </a:r>
            <a:endParaRPr lang="en-US" sz="9600" b="1" spc="-45" dirty="0">
              <a:solidFill>
                <a:srgbClr val="000000"/>
              </a:solidFill>
              <a:latin typeface="EB Garamond Semi-Bold" panose="020B0604020202020204" charset="0"/>
              <a:ea typeface="EB Garamond Semi-Bold" panose="020B0604020202020204" charset="0"/>
              <a:cs typeface="EB Garamond Semi-Bold" panose="020B0604020202020204" charset="0"/>
              <a:sym typeface="EB Garamond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700863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59ED8-10BD-465F-F131-C34AA42B3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492EC57-3F42-A009-CF3D-05E2AB311C31}"/>
              </a:ext>
            </a:extLst>
          </p:cNvPr>
          <p:cNvGrpSpPr/>
          <p:nvPr/>
        </p:nvGrpSpPr>
        <p:grpSpPr>
          <a:xfrm>
            <a:off x="0" y="-426177"/>
            <a:ext cx="18288000" cy="2610422"/>
            <a:chOff x="0" y="0"/>
            <a:chExt cx="24384000" cy="348056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4811B0A-90BD-3B2C-13A1-3CCA729C0397}"/>
                </a:ext>
              </a:extLst>
            </p:cNvPr>
            <p:cNvSpPr/>
            <p:nvPr/>
          </p:nvSpPr>
          <p:spPr>
            <a:xfrm>
              <a:off x="0" y="0"/>
              <a:ext cx="24384000" cy="3480562"/>
            </a:xfrm>
            <a:custGeom>
              <a:avLst/>
              <a:gdLst/>
              <a:ahLst/>
              <a:cxnLst/>
              <a:rect l="l" t="t" r="r" b="b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F94AE7A-F518-C57D-901D-F28282065754}"/>
              </a:ext>
            </a:extLst>
          </p:cNvPr>
          <p:cNvGrpSpPr/>
          <p:nvPr/>
        </p:nvGrpSpPr>
        <p:grpSpPr>
          <a:xfrm>
            <a:off x="13864961" y="8984828"/>
            <a:ext cx="4061936" cy="910304"/>
            <a:chOff x="0" y="0"/>
            <a:chExt cx="5415915" cy="121373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7DC9457-E406-14C4-CEB7-48B6442F98D1}"/>
                </a:ext>
              </a:extLst>
            </p:cNvPr>
            <p:cNvSpPr/>
            <p:nvPr/>
          </p:nvSpPr>
          <p:spPr>
            <a:xfrm>
              <a:off x="0" y="0"/>
              <a:ext cx="5415915" cy="1213739"/>
            </a:xfrm>
            <a:custGeom>
              <a:avLst/>
              <a:gdLst/>
              <a:ahLst/>
              <a:cxnLst/>
              <a:rect l="l" t="t" r="r" b="b"/>
              <a:pathLst>
                <a:path w="5415915" h="1213739">
                  <a:moveTo>
                    <a:pt x="0" y="0"/>
                  </a:moveTo>
                  <a:lnTo>
                    <a:pt x="5415915" y="0"/>
                  </a:lnTo>
                  <a:lnTo>
                    <a:pt x="5415915" y="1213739"/>
                  </a:lnTo>
                  <a:lnTo>
                    <a:pt x="0" y="1213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DF4AF47-5B31-7142-ED28-364B0EF63D6E}"/>
              </a:ext>
            </a:extLst>
          </p:cNvPr>
          <p:cNvGrpSpPr/>
          <p:nvPr/>
        </p:nvGrpSpPr>
        <p:grpSpPr>
          <a:xfrm>
            <a:off x="0" y="-9525"/>
            <a:ext cx="1837563" cy="2203323"/>
            <a:chOff x="0" y="0"/>
            <a:chExt cx="2450084" cy="293776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6A9F354-963B-D28E-A3F7-7883D90A362C}"/>
                </a:ext>
              </a:extLst>
            </p:cNvPr>
            <p:cNvSpPr/>
            <p:nvPr/>
          </p:nvSpPr>
          <p:spPr>
            <a:xfrm>
              <a:off x="0" y="0"/>
              <a:ext cx="2450084" cy="2937764"/>
            </a:xfrm>
            <a:custGeom>
              <a:avLst/>
              <a:gdLst/>
              <a:ahLst/>
              <a:cxnLst/>
              <a:rect l="l" t="t" r="r" b="b"/>
              <a:pathLst>
                <a:path w="2450084" h="2937764">
                  <a:moveTo>
                    <a:pt x="0" y="0"/>
                  </a:moveTo>
                  <a:lnTo>
                    <a:pt x="2450084" y="0"/>
                  </a:lnTo>
                  <a:lnTo>
                    <a:pt x="2450084" y="2937764"/>
                  </a:lnTo>
                  <a:lnTo>
                    <a:pt x="0" y="2937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3" r="-102"/>
              </a:stretch>
            </a:blipFill>
          </p:spPr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E1AF928E-2475-585C-2811-09BECDE6CD43}"/>
              </a:ext>
            </a:extLst>
          </p:cNvPr>
          <p:cNvSpPr txBox="1"/>
          <p:nvPr/>
        </p:nvSpPr>
        <p:spPr>
          <a:xfrm>
            <a:off x="278155" y="2506771"/>
            <a:ext cx="17731689" cy="6155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fully functional, mathematically sound Bayesian Network capable of real-time failure prediction for multi-agent systems.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ability to perform causal MAP diagnosis, explaining exactly 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 agent failed, rather than just returning a raw risk score.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robust decision policy layer that successfully translates risk probabilities into automated, cost-saving system interventions.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 proof that generative Bayesian models offer superior interpretability and resilience to missing data compared to standard ML classifiers.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interactive monitoring dashboard that bridges the gap between theoretical probabilistic reasoning and practical AI observability.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EA0657F-7917-1359-F111-CA1524C04FAD}"/>
              </a:ext>
            </a:extLst>
          </p:cNvPr>
          <p:cNvSpPr txBox="1"/>
          <p:nvPr/>
        </p:nvSpPr>
        <p:spPr>
          <a:xfrm>
            <a:off x="1781394" y="775144"/>
            <a:ext cx="16145504" cy="677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latin typeface="EB Garamond Semi-Bold" panose="020B0604020202020204" charset="0"/>
                <a:ea typeface="EB Garamond Semi-Bold" panose="020B0604020202020204" charset="0"/>
                <a:cs typeface="EB Garamond Semi-Bold" panose="020B0604020202020204" charset="0"/>
              </a:rPr>
              <a:t>Expected outcome</a:t>
            </a:r>
            <a:endParaRPr lang="en-US" sz="9600" b="1" spc="-45" dirty="0">
              <a:solidFill>
                <a:srgbClr val="000000"/>
              </a:solidFill>
              <a:latin typeface="EB Garamond Semi-Bold" panose="020B0604020202020204" charset="0"/>
              <a:ea typeface="EB Garamond Semi-Bold" panose="020B0604020202020204" charset="0"/>
              <a:cs typeface="EB Garamond Semi-Bold" panose="020B0604020202020204" charset="0"/>
              <a:sym typeface="EB Garamond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513496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91F2F7-DC95-E166-69B2-DD77AF9BF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843"/>
            <a:ext cx="15392400" cy="1099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66A3D-5F6F-D931-44CC-27F2E2F8F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C93FDF7-CDAD-58AA-E268-D3D67F8FCA04}"/>
              </a:ext>
            </a:extLst>
          </p:cNvPr>
          <p:cNvGrpSpPr/>
          <p:nvPr/>
        </p:nvGrpSpPr>
        <p:grpSpPr>
          <a:xfrm>
            <a:off x="0" y="-426177"/>
            <a:ext cx="18288000" cy="2610422"/>
            <a:chOff x="0" y="0"/>
            <a:chExt cx="24384000" cy="348056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5481EB-135A-936D-2C34-2B678BDA57BA}"/>
                </a:ext>
              </a:extLst>
            </p:cNvPr>
            <p:cNvSpPr/>
            <p:nvPr/>
          </p:nvSpPr>
          <p:spPr>
            <a:xfrm>
              <a:off x="0" y="0"/>
              <a:ext cx="24384000" cy="3480562"/>
            </a:xfrm>
            <a:custGeom>
              <a:avLst/>
              <a:gdLst/>
              <a:ahLst/>
              <a:cxnLst/>
              <a:rect l="l" t="t" r="r" b="b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469AE8B-088B-2285-BE15-6F5DDFD990B7}"/>
              </a:ext>
            </a:extLst>
          </p:cNvPr>
          <p:cNvGrpSpPr/>
          <p:nvPr/>
        </p:nvGrpSpPr>
        <p:grpSpPr>
          <a:xfrm>
            <a:off x="13864961" y="8984828"/>
            <a:ext cx="4061936" cy="910304"/>
            <a:chOff x="0" y="0"/>
            <a:chExt cx="5415915" cy="121373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FEC8024-DC3D-13F1-0CCD-D4BEA1DF5330}"/>
                </a:ext>
              </a:extLst>
            </p:cNvPr>
            <p:cNvSpPr/>
            <p:nvPr/>
          </p:nvSpPr>
          <p:spPr>
            <a:xfrm>
              <a:off x="0" y="0"/>
              <a:ext cx="5415915" cy="1213739"/>
            </a:xfrm>
            <a:custGeom>
              <a:avLst/>
              <a:gdLst/>
              <a:ahLst/>
              <a:cxnLst/>
              <a:rect l="l" t="t" r="r" b="b"/>
              <a:pathLst>
                <a:path w="5415915" h="1213739">
                  <a:moveTo>
                    <a:pt x="0" y="0"/>
                  </a:moveTo>
                  <a:lnTo>
                    <a:pt x="5415915" y="0"/>
                  </a:lnTo>
                  <a:lnTo>
                    <a:pt x="5415915" y="1213739"/>
                  </a:lnTo>
                  <a:lnTo>
                    <a:pt x="0" y="1213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A6B84E0-D316-B999-C68F-F9162DE50C98}"/>
              </a:ext>
            </a:extLst>
          </p:cNvPr>
          <p:cNvGrpSpPr/>
          <p:nvPr/>
        </p:nvGrpSpPr>
        <p:grpSpPr>
          <a:xfrm>
            <a:off x="0" y="-9525"/>
            <a:ext cx="1837563" cy="2203323"/>
            <a:chOff x="0" y="0"/>
            <a:chExt cx="2450084" cy="293776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31D2AB2-32C5-9C5A-58FD-FCB717DB1A20}"/>
                </a:ext>
              </a:extLst>
            </p:cNvPr>
            <p:cNvSpPr/>
            <p:nvPr/>
          </p:nvSpPr>
          <p:spPr>
            <a:xfrm>
              <a:off x="0" y="0"/>
              <a:ext cx="2450084" cy="2937764"/>
            </a:xfrm>
            <a:custGeom>
              <a:avLst/>
              <a:gdLst/>
              <a:ahLst/>
              <a:cxnLst/>
              <a:rect l="l" t="t" r="r" b="b"/>
              <a:pathLst>
                <a:path w="2450084" h="2937764">
                  <a:moveTo>
                    <a:pt x="0" y="0"/>
                  </a:moveTo>
                  <a:lnTo>
                    <a:pt x="2450084" y="0"/>
                  </a:lnTo>
                  <a:lnTo>
                    <a:pt x="2450084" y="2937764"/>
                  </a:lnTo>
                  <a:lnTo>
                    <a:pt x="0" y="2937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3" r="-102"/>
              </a:stretch>
            </a:blipFill>
          </p:spPr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1ED5478F-4ED4-65FA-4BAC-835A7414C289}"/>
              </a:ext>
            </a:extLst>
          </p:cNvPr>
          <p:cNvSpPr txBox="1"/>
          <p:nvPr/>
        </p:nvSpPr>
        <p:spPr>
          <a:xfrm>
            <a:off x="556311" y="2779566"/>
            <a:ext cx="17198289" cy="6894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 err="1">
                <a:hlinkClick r:id="rId5"/>
              </a:rPr>
              <a:t>ProbGuard</a:t>
            </a:r>
            <a:r>
              <a:rPr lang="en-US" sz="2800" dirty="0">
                <a:hlinkClick r:id="rId5"/>
              </a:rPr>
              <a:t>: Probabilistic </a:t>
            </a:r>
            <a:r>
              <a:rPr lang="en-US" sz="2800" b="1" dirty="0">
                <a:hlinkClick r:id="rId5"/>
              </a:rPr>
              <a:t>runtime </a:t>
            </a:r>
            <a:r>
              <a:rPr lang="en-US" sz="2800" dirty="0">
                <a:hlinkClick r:id="rId5"/>
              </a:rPr>
              <a:t>monitoring for LLM agent safety</a:t>
            </a:r>
            <a:endParaRPr lang="en-US" sz="28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dirty="0"/>
              <a:t>Introduces a framework designed to monitor Large Language Model (LLM) agents during execution to detect and prevent unsafe or undesirable actions.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dirty="0"/>
              <a:t>It employs probabilistic methods to assess risks in real-time, acting as a dynamic safeguard while the agent interacts with its environment.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hlinkClick r:id="rId6"/>
              </a:rPr>
              <a:t>Which Agent Causes Task Failures and When? On Automated Failure Attribution of LLM Multi-Agent Systems</a:t>
            </a:r>
            <a:endParaRPr lang="en-US" sz="28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dirty="0"/>
              <a:t>Addresses the debugging challenge in complex environments by investigating how to pinpoint errors when multiple LLM agents collaborate on a single task.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dirty="0"/>
              <a:t>Proposes an automated approach to trace task failures back to the specific offending agent and the exact temporal step where the error originated.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hlinkClick r:id="rId7"/>
              </a:rPr>
              <a:t>Why Do Multi-Agent LLM Systems Fail?</a:t>
            </a: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a comprehensive analysis and taxonomy of the common vulnerabilities, bottlenecks, and failure modes specific to multi-agent LLM architectures.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Investigates systemic issues—such as inter-agent miscommunication, loop behaviors, and cascading hallucinations—to guide the development of more robust collaborative AI systems.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AE4F832-0D34-7D50-63F1-9447A76A2B98}"/>
              </a:ext>
            </a:extLst>
          </p:cNvPr>
          <p:cNvSpPr txBox="1"/>
          <p:nvPr/>
        </p:nvSpPr>
        <p:spPr>
          <a:xfrm>
            <a:off x="1781394" y="775144"/>
            <a:ext cx="16145504" cy="677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latin typeface="EB Garamond Semi-Bold" panose="020B0604020202020204" charset="0"/>
                <a:ea typeface="EB Garamond Semi-Bold" panose="020B0604020202020204" charset="0"/>
                <a:cs typeface="EB Garamond Semi-Bold" panose="020B0604020202020204" charset="0"/>
              </a:rPr>
              <a:t>Literature Survey</a:t>
            </a:r>
            <a:endParaRPr lang="en-US" sz="9600" b="1" spc="-45" dirty="0">
              <a:solidFill>
                <a:srgbClr val="000000"/>
              </a:solidFill>
              <a:latin typeface="EB Garamond Semi-Bold" panose="020B0604020202020204" charset="0"/>
              <a:ea typeface="EB Garamond Semi-Bold" panose="020B0604020202020204" charset="0"/>
              <a:cs typeface="EB Garamond Semi-Bold" panose="020B0604020202020204" charset="0"/>
              <a:sym typeface="EB Garamond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372860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CA92A-A7BA-5547-96CD-0DB7DAAE7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84621CD-28BA-ECB6-5CBB-6943F08A8280}"/>
              </a:ext>
            </a:extLst>
          </p:cNvPr>
          <p:cNvGrpSpPr/>
          <p:nvPr/>
        </p:nvGrpSpPr>
        <p:grpSpPr>
          <a:xfrm>
            <a:off x="0" y="-426177"/>
            <a:ext cx="18288000" cy="2610422"/>
            <a:chOff x="0" y="0"/>
            <a:chExt cx="24384000" cy="348056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F2AA2AB-BC81-BD95-C219-9D30BA4E7AD4}"/>
                </a:ext>
              </a:extLst>
            </p:cNvPr>
            <p:cNvSpPr/>
            <p:nvPr/>
          </p:nvSpPr>
          <p:spPr>
            <a:xfrm>
              <a:off x="0" y="0"/>
              <a:ext cx="24384000" cy="3480562"/>
            </a:xfrm>
            <a:custGeom>
              <a:avLst/>
              <a:gdLst/>
              <a:ahLst/>
              <a:cxnLst/>
              <a:rect l="l" t="t" r="r" b="b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7D5A9548-718B-2186-AB62-CB7DA93CF284}"/>
              </a:ext>
            </a:extLst>
          </p:cNvPr>
          <p:cNvGrpSpPr/>
          <p:nvPr/>
        </p:nvGrpSpPr>
        <p:grpSpPr>
          <a:xfrm>
            <a:off x="13864961" y="8984828"/>
            <a:ext cx="4061936" cy="910304"/>
            <a:chOff x="0" y="0"/>
            <a:chExt cx="5415915" cy="121373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4275374-6606-B6A6-C647-467717182FBD}"/>
                </a:ext>
              </a:extLst>
            </p:cNvPr>
            <p:cNvSpPr/>
            <p:nvPr/>
          </p:nvSpPr>
          <p:spPr>
            <a:xfrm>
              <a:off x="0" y="0"/>
              <a:ext cx="5415915" cy="1213739"/>
            </a:xfrm>
            <a:custGeom>
              <a:avLst/>
              <a:gdLst/>
              <a:ahLst/>
              <a:cxnLst/>
              <a:rect l="l" t="t" r="r" b="b"/>
              <a:pathLst>
                <a:path w="5415915" h="1213739">
                  <a:moveTo>
                    <a:pt x="0" y="0"/>
                  </a:moveTo>
                  <a:lnTo>
                    <a:pt x="5415915" y="0"/>
                  </a:lnTo>
                  <a:lnTo>
                    <a:pt x="5415915" y="1213739"/>
                  </a:lnTo>
                  <a:lnTo>
                    <a:pt x="0" y="1213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2457CD4-5092-F8D5-02B2-C0BDF75EFDA0}"/>
              </a:ext>
            </a:extLst>
          </p:cNvPr>
          <p:cNvGrpSpPr/>
          <p:nvPr/>
        </p:nvGrpSpPr>
        <p:grpSpPr>
          <a:xfrm>
            <a:off x="0" y="-9525"/>
            <a:ext cx="1837563" cy="2203323"/>
            <a:chOff x="0" y="0"/>
            <a:chExt cx="2450084" cy="293776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221E534-6564-FA8D-B64F-16221465412E}"/>
                </a:ext>
              </a:extLst>
            </p:cNvPr>
            <p:cNvSpPr/>
            <p:nvPr/>
          </p:nvSpPr>
          <p:spPr>
            <a:xfrm>
              <a:off x="0" y="0"/>
              <a:ext cx="2450084" cy="2937764"/>
            </a:xfrm>
            <a:custGeom>
              <a:avLst/>
              <a:gdLst/>
              <a:ahLst/>
              <a:cxnLst/>
              <a:rect l="l" t="t" r="r" b="b"/>
              <a:pathLst>
                <a:path w="2450084" h="2937764">
                  <a:moveTo>
                    <a:pt x="0" y="0"/>
                  </a:moveTo>
                  <a:lnTo>
                    <a:pt x="2450084" y="0"/>
                  </a:lnTo>
                  <a:lnTo>
                    <a:pt x="2450084" y="2937764"/>
                  </a:lnTo>
                  <a:lnTo>
                    <a:pt x="0" y="2937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3" r="-102"/>
              </a:stretch>
            </a:blipFill>
          </p:spPr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30A93802-2B1B-E612-B91F-983D4660885F}"/>
              </a:ext>
            </a:extLst>
          </p:cNvPr>
          <p:cNvSpPr txBox="1"/>
          <p:nvPr/>
        </p:nvSpPr>
        <p:spPr>
          <a:xfrm>
            <a:off x="1781394" y="775144"/>
            <a:ext cx="16145504" cy="677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spc="-45" dirty="0">
                <a:solidFill>
                  <a:srgbClr val="000000"/>
                </a:solidFill>
                <a:latin typeface="EB Garamond Semi-Bold" panose="020B0604020202020204" charset="0"/>
                <a:ea typeface="EB Garamond Semi-Bold" panose="020B0604020202020204" charset="0"/>
                <a:cs typeface="EB Garamond Semi-Bold" panose="020B0604020202020204" charset="0"/>
                <a:sym typeface="EB Garamond Semi-Bold"/>
              </a:rPr>
              <a:t>Architecture Diagram</a:t>
            </a:r>
            <a:endParaRPr lang="en-US" sz="9600" b="1" spc="-45" dirty="0">
              <a:solidFill>
                <a:srgbClr val="000000"/>
              </a:solidFill>
              <a:latin typeface="EB Garamond Semi-Bold" panose="020B0604020202020204" charset="0"/>
              <a:ea typeface="EB Garamond Semi-Bold" panose="020B0604020202020204" charset="0"/>
              <a:cs typeface="EB Garamond Semi-Bold" panose="020B0604020202020204" charset="0"/>
              <a:sym typeface="EB Garamond Semi-Bold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90B0C7-520D-A931-D086-E7CEA850B8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523878"/>
            <a:ext cx="18288000" cy="323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275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682</Words>
  <Application>Microsoft Office PowerPoint</Application>
  <PresentationFormat>Custom</PresentationFormat>
  <Paragraphs>119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Times New Roman Bold</vt:lpstr>
      <vt:lpstr>Times New Roman</vt:lpstr>
      <vt:lpstr>EB Garamond Semi-Bold</vt:lpstr>
      <vt:lpstr>Arial</vt:lpstr>
      <vt:lpstr>Calibri</vt:lpstr>
      <vt:lpstr>EB 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old topic.pptx</dc:title>
  <cp:lastModifiedBy>LAKSHMI KANTHAN S-[CH.SC.U4AIE24041]</cp:lastModifiedBy>
  <cp:revision>8</cp:revision>
  <dcterms:created xsi:type="dcterms:W3CDTF">2006-08-16T00:00:00Z</dcterms:created>
  <dcterms:modified xsi:type="dcterms:W3CDTF">2026-09-02T06:03:38Z</dcterms:modified>
  <dc:identifier>DAHSMBVAf6Y</dc:identifier>
</cp:coreProperties>
</file>